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6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charts/chart9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Postings per day, 13 Feb to 24 Mar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</c:v>
                </c:pt>
              </c:strCache>
            </c:strRef>
          </c:tx>
          <c:spPr>
            <a:ln w="31750" cap="flat">
              <a:solidFill>
                <a:srgbClr val="1A7F73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A7F73"/>
              </a:solidFill>
              <a:ln w="9525" cap="flat">
                <a:solidFill>
                  <a:srgbClr val="1A7F73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13 Feb</c:v>
                </c:pt>
                <c:pt idx="1">
                  <c:v>14 Feb</c:v>
                </c:pt>
                <c:pt idx="2">
                  <c:v>15 Feb</c:v>
                </c:pt>
                <c:pt idx="3">
                  <c:v>16 Feb</c:v>
                </c:pt>
                <c:pt idx="4">
                  <c:v>17 Feb</c:v>
                </c:pt>
                <c:pt idx="5">
                  <c:v>18 Feb</c:v>
                </c:pt>
                <c:pt idx="6">
                  <c:v>19 Feb</c:v>
                </c:pt>
                <c:pt idx="7">
                  <c:v>20 Feb</c:v>
                </c:pt>
                <c:pt idx="8">
                  <c:v>21 Feb</c:v>
                </c:pt>
                <c:pt idx="9">
                  <c:v>22 Feb</c:v>
                </c:pt>
                <c:pt idx="10">
                  <c:v>23 Feb</c:v>
                </c:pt>
                <c:pt idx="11">
                  <c:v>24 Feb</c:v>
                </c:pt>
                <c:pt idx="12">
                  <c:v>25 Feb</c:v>
                </c:pt>
                <c:pt idx="13">
                  <c:v>26 Feb</c:v>
                </c:pt>
                <c:pt idx="14">
                  <c:v>27 Feb</c:v>
                </c:pt>
                <c:pt idx="15">
                  <c:v>28 Feb</c:v>
                </c:pt>
                <c:pt idx="16">
                  <c:v>29 Feb</c:v>
                </c:pt>
                <c:pt idx="17">
                  <c:v>1 Mar</c:v>
                </c:pt>
                <c:pt idx="18">
                  <c:v>2 Mar</c:v>
                </c:pt>
                <c:pt idx="19">
                  <c:v>3 Mar</c:v>
                </c:pt>
                <c:pt idx="20">
                  <c:v>4 Mar</c:v>
                </c:pt>
                <c:pt idx="21">
                  <c:v>5 Mar</c:v>
                </c:pt>
                <c:pt idx="22">
                  <c:v>6 Mar</c:v>
                </c:pt>
                <c:pt idx="23">
                  <c:v>7 Mar</c:v>
                </c:pt>
                <c:pt idx="24">
                  <c:v>8 Mar</c:v>
                </c:pt>
                <c:pt idx="25">
                  <c:v>9 Mar</c:v>
                </c:pt>
                <c:pt idx="26">
                  <c:v>10 Mar</c:v>
                </c:pt>
                <c:pt idx="27">
                  <c:v>11 Mar</c:v>
                </c:pt>
                <c:pt idx="28">
                  <c:v>12 Mar</c:v>
                </c:pt>
                <c:pt idx="29">
                  <c:v>13 Mar</c:v>
                </c:pt>
                <c:pt idx="30">
                  <c:v>14 Mar</c:v>
                </c:pt>
                <c:pt idx="31">
                  <c:v>15 Mar</c:v>
                </c:pt>
                <c:pt idx="32">
                  <c:v>16 Mar</c:v>
                </c:pt>
                <c:pt idx="33">
                  <c:v>17 Mar</c:v>
                </c:pt>
                <c:pt idx="34">
                  <c:v>18 Mar</c:v>
                </c:pt>
                <c:pt idx="35">
                  <c:v>19 Mar</c:v>
                </c:pt>
                <c:pt idx="36">
                  <c:v>20 Mar</c:v>
                </c:pt>
                <c:pt idx="37">
                  <c:v>21 Mar</c:v>
                </c:pt>
                <c:pt idx="38">
                  <c:v>22 Mar</c:v>
                </c:pt>
                <c:pt idx="39">
                  <c:v>23 Mar</c:v>
                </c:pt>
                <c:pt idx="40">
                  <c:v>24 Mar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5062</c:v>
                </c:pt>
                <c:pt idx="1">
                  <c:v>5966</c:v>
                </c:pt>
                <c:pt idx="2">
                  <c:v>1811</c:v>
                </c:pt>
                <c:pt idx="3">
                  <c:v>6623</c:v>
                </c:pt>
                <c:pt idx="4">
                  <c:v>4717</c:v>
                </c:pt>
                <c:pt idx="5">
                  <c:v>4157</c:v>
                </c:pt>
                <c:pt idx="6">
                  <c:v>6863</c:v>
                </c:pt>
                <c:pt idx="7">
                  <c:v>7116</c:v>
                </c:pt>
                <c:pt idx="8">
                  <c:v>7534</c:v>
                </c:pt>
                <c:pt idx="9">
                  <c:v>7278</c:v>
                </c:pt>
                <c:pt idx="10">
                  <c:v>7120</c:v>
                </c:pt>
                <c:pt idx="11">
                  <c:v>4973</c:v>
                </c:pt>
                <c:pt idx="12">
                  <c:v>4660</c:v>
                </c:pt>
                <c:pt idx="13">
                  <c:v>6801</c:v>
                </c:pt>
                <c:pt idx="14">
                  <c:v>7046</c:v>
                </c:pt>
                <c:pt idx="15">
                  <c:v>7039</c:v>
                </c:pt>
                <c:pt idx="16">
                  <c:v>6945</c:v>
                </c:pt>
                <c:pt idx="17">
                  <c:v>6525</c:v>
                </c:pt>
                <c:pt idx="18">
                  <c:v>4795</c:v>
                </c:pt>
                <c:pt idx="19">
                  <c:v>4493</c:v>
                </c:pt>
                <c:pt idx="20">
                  <c:v>6866</c:v>
                </c:pt>
                <c:pt idx="21">
                  <c:v>7005</c:v>
                </c:pt>
                <c:pt idx="22">
                  <c:v>7027</c:v>
                </c:pt>
                <c:pt idx="23">
                  <c:v>7046</c:v>
                </c:pt>
                <c:pt idx="24">
                  <c:v>6449</c:v>
                </c:pt>
                <c:pt idx="25">
                  <c:v>4808</c:v>
                </c:pt>
                <c:pt idx="26">
                  <c:v>4518</c:v>
                </c:pt>
                <c:pt idx="27">
                  <c:v>6826</c:v>
                </c:pt>
                <c:pt idx="28">
                  <c:v>7060</c:v>
                </c:pt>
                <c:pt idx="29">
                  <c:v>6918</c:v>
                </c:pt>
                <c:pt idx="30">
                  <c:v>6792</c:v>
                </c:pt>
                <c:pt idx="31">
                  <c:v>6329</c:v>
                </c:pt>
                <c:pt idx="32">
                  <c:v>4605</c:v>
                </c:pt>
                <c:pt idx="33">
                  <c:v>4478</c:v>
                </c:pt>
                <c:pt idx="34">
                  <c:v>6811</c:v>
                </c:pt>
                <c:pt idx="35">
                  <c:v>6906</c:v>
                </c:pt>
                <c:pt idx="36">
                  <c:v>6839</c:v>
                </c:pt>
                <c:pt idx="37">
                  <c:v>6814</c:v>
                </c:pt>
                <c:pt idx="38">
                  <c:v>6208</c:v>
                </c:pt>
                <c:pt idx="39">
                  <c:v>4531</c:v>
                </c:pt>
                <c:pt idx="40">
                  <c:v>2185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0F3-4995-BAC0-2C1E181CB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2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Median hourly rate by title keyword ($/h)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hourly rate by title keyword ($/h)</c:v>
                </c:pt>
              </c:strCache>
            </c:strRef>
          </c:tx>
          <c:spPr>
            <a:solidFill>
              <a:srgbClr val="1A7F73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037-48A4-A1D1-7E9A46D96B1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5037-48A4-A1D1-7E9A46D96B1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5037-48A4-A1D1-7E9A46D96B1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5037-48A4-A1D1-7E9A46D96B11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5037-48A4-A1D1-7E9A46D96B11}"/>
              </c:ext>
            </c:extLst>
          </c:dPt>
          <c:dPt>
            <c:idx val="5"/>
            <c:invertIfNegative val="0"/>
            <c:bubble3D val="0"/>
            <c:spPr>
              <a:solidFill>
                <a:srgbClr val="5B6B7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037-48A4-A1D1-7E9A46D96B11}"/>
              </c:ext>
            </c:extLst>
          </c:dPt>
          <c:dPt>
            <c:idx val="6"/>
            <c:invertIfNegative val="0"/>
            <c:bubble3D val="0"/>
            <c:spPr>
              <a:solidFill>
                <a:srgbClr val="C4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037-48A4-A1D1-7E9A46D96B11}"/>
              </c:ext>
            </c:extLst>
          </c:dPt>
          <c:dPt>
            <c:idx val="7"/>
            <c:invertIfNegative val="0"/>
            <c:bubble3D val="0"/>
            <c:spPr>
              <a:solidFill>
                <a:srgbClr val="C4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037-48A4-A1D1-7E9A46D96B11}"/>
              </c:ext>
            </c:extLst>
          </c:dPt>
          <c:dPt>
            <c:idx val="8"/>
            <c:invertIfNegative val="0"/>
            <c:bubble3D val="0"/>
            <c:spPr>
              <a:solidFill>
                <a:srgbClr val="C4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037-48A4-A1D1-7E9A46D96B11}"/>
              </c:ext>
            </c:extLst>
          </c:dPt>
          <c:dPt>
            <c:idx val="9"/>
            <c:invertIfNegative val="0"/>
            <c:bubble3D val="0"/>
            <c:spPr>
              <a:solidFill>
                <a:srgbClr val="C4553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037-48A4-A1D1-7E9A46D96B11}"/>
              </c:ext>
            </c:extLst>
          </c:dPt>
          <c:dLbls>
            <c:numFmt formatCode="&quot;$&quot;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attorney</c:v>
                </c:pt>
                <c:pt idx="1">
                  <c:v>lawyer</c:v>
                </c:pt>
                <c:pt idx="2">
                  <c:v>grant</c:v>
                </c:pt>
                <c:pt idx="3">
                  <c:v>cryptocurrency</c:v>
                </c:pt>
                <c:pt idx="4">
                  <c:v>consultant</c:v>
                </c:pt>
                <c:pt idx="5">
                  <c:v>ALL OTHER TITLES</c:v>
                </c:pt>
                <c:pt idx="6">
                  <c:v>paste</c:v>
                </c:pt>
                <c:pt idx="7">
                  <c:v>customer service</c:v>
                </c:pt>
                <c:pt idx="8">
                  <c:v>chatter</c:v>
                </c:pt>
                <c:pt idx="9">
                  <c:v>appointment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87.5</c:v>
                </c:pt>
                <c:pt idx="1">
                  <c:v>82</c:v>
                </c:pt>
                <c:pt idx="2">
                  <c:v>57.5</c:v>
                </c:pt>
                <c:pt idx="3">
                  <c:v>55</c:v>
                </c:pt>
                <c:pt idx="4">
                  <c:v>40</c:v>
                </c:pt>
                <c:pt idx="5">
                  <c:v>22.5</c:v>
                </c:pt>
                <c:pt idx="6">
                  <c:v>10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037-48A4-A1D1-7E9A46D96B1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Growth in share of postings, period B vs A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in share of postings, period B vs A (%)</c:v>
                </c:pt>
              </c:strCache>
            </c:strRef>
          </c:tx>
          <c:spPr>
            <a:solidFill>
              <a:srgbClr val="1A7F73"/>
            </a:solidFill>
            <a:effectLst/>
          </c:spPr>
          <c:invertIfNegative val="0"/>
          <c:dLbls>
            <c:numFmt formatCode="&quot;+&quot;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recruiter</c:v>
                </c:pt>
                <c:pt idx="1">
                  <c:v>node js</c:v>
                </c:pt>
                <c:pt idx="2">
                  <c:v>crypto</c:v>
                </c:pt>
                <c:pt idx="3">
                  <c:v>play</c:v>
                </c:pt>
                <c:pt idx="4">
                  <c:v>js</c:v>
                </c:pt>
                <c:pt idx="5">
                  <c:v>node</c:v>
                </c:pt>
                <c:pt idx="6">
                  <c:v>ads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56.5</c:v>
                </c:pt>
                <c:pt idx="1">
                  <c:v>55.9</c:v>
                </c:pt>
                <c:pt idx="2">
                  <c:v>42.7</c:v>
                </c:pt>
                <c:pt idx="3">
                  <c:v>39.700000000000003</c:v>
                </c:pt>
                <c:pt idx="4">
                  <c:v>35.5</c:v>
                </c:pt>
                <c:pt idx="5">
                  <c:v>31.5</c:v>
                </c:pt>
                <c:pt idx="6">
                  <c:v>15.1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5FC-4A78-92B7-D530F62D1F4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Forecast postings, week of 24 to 30 Mar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postings, week of 24 to 30 Mar</c:v>
                </c:pt>
              </c:strCache>
            </c:strRef>
          </c:tx>
          <c:spPr>
            <a:solidFill>
              <a:srgbClr val="1A7F7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WordPress / website builder</c:v>
                </c:pt>
                <c:pt idx="1">
                  <c:v>Web / software developer</c:v>
                </c:pt>
                <c:pt idx="2">
                  <c:v>Illustrator / graphic designer</c:v>
                </c:pt>
                <c:pt idx="3">
                  <c:v>Social media manager</c:v>
                </c:pt>
                <c:pt idx="4">
                  <c:v>Video editor</c:v>
                </c:pt>
                <c:pt idx="5">
                  <c:v>Writer / copywriter</c:v>
                </c:pt>
                <c:pt idx="6">
                  <c:v>Sales &amp; lead generation</c:v>
                </c:pt>
                <c:pt idx="7">
                  <c:v>Mobile app developer</c:v>
                </c:pt>
                <c:pt idx="8">
                  <c:v>Virtual assistant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3521</c:v>
                </c:pt>
                <c:pt idx="1">
                  <c:v>2379</c:v>
                </c:pt>
                <c:pt idx="2">
                  <c:v>2352</c:v>
                </c:pt>
                <c:pt idx="3">
                  <c:v>2102</c:v>
                </c:pt>
                <c:pt idx="4">
                  <c:v>2045</c:v>
                </c:pt>
                <c:pt idx="5">
                  <c:v>2037</c:v>
                </c:pt>
                <c:pt idx="6">
                  <c:v>1677</c:v>
                </c:pt>
                <c:pt idx="7">
                  <c:v>1669</c:v>
                </c:pt>
                <c:pt idx="8">
                  <c:v>1225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D7-4E4C-B57E-1C71F51318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Role-adjusted hourly rate vs United States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Role-adjusted hourly rate vs United States (%)</c:v>
                </c:pt>
              </c:strCache>
            </c:strRef>
          </c:tx>
          <c:spPr>
            <a:solidFill>
              <a:srgbClr val="C4553B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Philippines</c:v>
                </c:pt>
                <c:pt idx="1">
                  <c:v>India</c:v>
                </c:pt>
                <c:pt idx="2">
                  <c:v>Netherlands</c:v>
                </c:pt>
                <c:pt idx="3">
                  <c:v>Pakistan</c:v>
                </c:pt>
                <c:pt idx="4">
                  <c:v>Bangladesh</c:v>
                </c:pt>
                <c:pt idx="5">
                  <c:v>Australia</c:v>
                </c:pt>
                <c:pt idx="6">
                  <c:v>Canada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-38.5</c:v>
                </c:pt>
                <c:pt idx="1">
                  <c:v>-27.1</c:v>
                </c:pt>
                <c:pt idx="2">
                  <c:v>-23</c:v>
                </c:pt>
                <c:pt idx="3">
                  <c:v>-23</c:v>
                </c:pt>
                <c:pt idx="4">
                  <c:v>-20.3</c:v>
                </c:pt>
                <c:pt idx="5">
                  <c:v>-17</c:v>
                </c:pt>
                <c:pt idx="6">
                  <c:v>-13.5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15-4DF6-99FA-78BEB8725E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Top-10 results with the same role as the query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Precision@10</c:v>
                </c:pt>
              </c:strCache>
            </c:strRef>
          </c:tx>
          <c:spPr>
            <a:solidFill>
              <a:srgbClr val="5B6B7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BA-410A-830A-2625D626C429}"/>
              </c:ext>
            </c:extLst>
          </c:dPt>
          <c:dPt>
            <c:idx val="1"/>
            <c:invertIfNegative val="0"/>
            <c:bubble3D val="0"/>
            <c:spPr>
              <a:solidFill>
                <a:srgbClr val="7FB5A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BA-410A-830A-2625D626C429}"/>
              </c:ext>
            </c:extLst>
          </c:dPt>
          <c:dPt>
            <c:idx val="2"/>
            <c:invertIfNegative val="0"/>
            <c:bubble3D val="0"/>
            <c:spPr>
              <a:solidFill>
                <a:srgbClr val="1A7F7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BA-410A-830A-2625D626C42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Random titles</c:v>
                </c:pt>
                <c:pt idx="1">
                  <c:v>Words only</c:v>
                </c:pt>
                <c:pt idx="2">
                  <c:v>Words + word pairs (used)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3.5</c:v>
                </c:pt>
                <c:pt idx="1">
                  <c:v>55.1</c:v>
                </c:pt>
                <c:pt idx="2">
                  <c:v>57.2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CBA-410A-830A-2625D626C4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Postings per day, 5 full weeks (axis starts at 5,000)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Postings per day</c:v>
                </c:pt>
              </c:strCache>
            </c:strRef>
          </c:tx>
          <c:spPr>
            <a:ln w="38100" cap="flat">
              <a:solidFill>
                <a:srgbClr val="1A7F73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1A7F73"/>
              </a:solidFill>
              <a:ln w="9525" cap="flat">
                <a:solidFill>
                  <a:srgbClr val="1A7F73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18 Feb</c:v>
                </c:pt>
                <c:pt idx="1">
                  <c:v>25 Feb</c:v>
                </c:pt>
                <c:pt idx="2">
                  <c:v>3 Mar</c:v>
                </c:pt>
                <c:pt idx="3">
                  <c:v>10 Mar</c:v>
                </c:pt>
                <c:pt idx="4">
                  <c:v>17 Mar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6361</c:v>
                </c:pt>
                <c:pt idx="1">
                  <c:v>6181</c:v>
                </c:pt>
                <c:pt idx="2">
                  <c:v>6171</c:v>
                </c:pt>
                <c:pt idx="3">
                  <c:v>6070</c:v>
                </c:pt>
                <c:pt idx="4">
                  <c:v>6002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74A-4AD6-B138-6CADA2F6B9C7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00"/>
          <c:min val="5000"/>
        </c:scaling>
        <c:delete val="0"/>
        <c:axPos val="l"/>
        <c:majorGridlines>
          <c:spPr>
            <a:ln w="6350" cap="flat">
              <a:solidFill>
                <a:srgbClr val="D9E2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Titles mentioning each signal (per 10,000 postings)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 mentioning each signal (per 10,000 postings)</c:v>
                </c:pt>
              </c:strCache>
            </c:strRef>
          </c:tx>
          <c:spPr>
            <a:solidFill>
              <a:srgbClr val="7FB5A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D8-498D-9F51-4AC76DC4612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3D8-498D-9F51-4AC76DC46128}"/>
              </c:ext>
            </c:extLst>
          </c:dPt>
          <c:dPt>
            <c:idx val="2"/>
            <c:invertIfNegative val="0"/>
            <c:bubble3D val="0"/>
            <c:spPr>
              <a:solidFill>
                <a:srgbClr val="E0A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D8-498D-9F51-4AC76DC4612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3D8-498D-9F51-4AC76DC4612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3D8-498D-9F51-4AC76DC4612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3D8-498D-9F51-4AC76DC4612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3D8-498D-9F51-4AC76DC4612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3D8-498D-9F51-4AC76DC46128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3D8-498D-9F51-4AC76DC4612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F2A3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long term / ongoing</c:v>
                </c:pt>
                <c:pt idx="1">
                  <c:v>urgent / asap</c:v>
                </c:pt>
                <c:pt idx="2">
                  <c:v>remote</c:v>
                </c:pt>
                <c:pt idx="3">
                  <c:v>part time</c:v>
                </c:pt>
                <c:pt idx="4">
                  <c:v>contract</c:v>
                </c:pt>
                <c:pt idx="5">
                  <c:v>full time</c:v>
                </c:pt>
                <c:pt idx="6">
                  <c:v>location restricted</c:v>
                </c:pt>
                <c:pt idx="7">
                  <c:v>on-site / hybrid</c:v>
                </c:pt>
                <c:pt idx="8">
                  <c:v>work from home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102.3</c:v>
                </c:pt>
                <c:pt idx="1">
                  <c:v>81.8</c:v>
                </c:pt>
                <c:pt idx="2">
                  <c:v>55.6</c:v>
                </c:pt>
                <c:pt idx="3">
                  <c:v>43</c:v>
                </c:pt>
                <c:pt idx="4">
                  <c:v>42.7</c:v>
                </c:pt>
                <c:pt idx="5">
                  <c:v>41.9</c:v>
                </c:pt>
                <c:pt idx="6">
                  <c:v>15.9</c:v>
                </c:pt>
                <c:pt idx="7">
                  <c:v>13.8</c:v>
                </c:pt>
                <c:pt idx="8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3D8-498D-9F51-4AC76DC461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30"/>
                </a:solidFill>
                <a:latin typeface="+mn-lt"/>
              </a:defRPr>
            </a:pPr>
            <a:r>
              <a:rPr lang="en-US" sz="1400" b="0" i="0" u="none" strike="noStrike">
                <a:solidFill>
                  <a:srgbClr val="1F2A30"/>
                </a:solidFill>
                <a:latin typeface="+mn-lt"/>
              </a:rPr>
              <a:t>Postings per day: actual and scenarios (axis starts at 5,000)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A7F73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 Feb</c:v>
                </c:pt>
                <c:pt idx="1">
                  <c:v>25 Feb</c:v>
                </c:pt>
                <c:pt idx="2">
                  <c:v>3 Mar</c:v>
                </c:pt>
                <c:pt idx="3">
                  <c:v>10 Mar</c:v>
                </c:pt>
                <c:pt idx="4">
                  <c:v>17 Mar</c:v>
                </c:pt>
                <c:pt idx="5">
                  <c:v>24 Mar</c:v>
                </c:pt>
                <c:pt idx="6">
                  <c:v>31 Mar</c:v>
                </c:pt>
                <c:pt idx="7">
                  <c:v>7 Apr</c:v>
                </c:pt>
                <c:pt idx="8">
                  <c:v>14 Apr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6361</c:v>
                </c:pt>
                <c:pt idx="1">
                  <c:v>6181</c:v>
                </c:pt>
                <c:pt idx="2">
                  <c:v>6171</c:v>
                </c:pt>
                <c:pt idx="3">
                  <c:v>6070</c:v>
                </c:pt>
                <c:pt idx="4">
                  <c:v>6002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E5-4FC1-9D58-787C798B38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A. Stable (base)</c:v>
                </c:pt>
              </c:strCache>
            </c:strRef>
          </c:tx>
          <c:spPr>
            <a:solidFill>
              <a:srgbClr val="E0A030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 Feb</c:v>
                </c:pt>
                <c:pt idx="1">
                  <c:v>25 Feb</c:v>
                </c:pt>
                <c:pt idx="2">
                  <c:v>3 Mar</c:v>
                </c:pt>
                <c:pt idx="3">
                  <c:v>10 Mar</c:v>
                </c:pt>
                <c:pt idx="4">
                  <c:v>17 Mar</c:v>
                </c:pt>
                <c:pt idx="5">
                  <c:v>24 Mar</c:v>
                </c:pt>
                <c:pt idx="6">
                  <c:v>31 Mar</c:v>
                </c:pt>
                <c:pt idx="7">
                  <c:v>7 Apr</c:v>
                </c:pt>
                <c:pt idx="8">
                  <c:v>14 Apr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6081</c:v>
                </c:pt>
                <c:pt idx="6">
                  <c:v>6081</c:v>
                </c:pt>
                <c:pt idx="7">
                  <c:v>6081</c:v>
                </c:pt>
                <c:pt idx="8">
                  <c:v>6081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E5-4FC1-9D58-787C798B38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B. Trend continues</c:v>
                </c:pt>
              </c:strCache>
            </c:strRef>
          </c:tx>
          <c:spPr>
            <a:solidFill>
              <a:srgbClr val="C4553B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18 Feb</c:v>
                </c:pt>
                <c:pt idx="1">
                  <c:v>25 Feb</c:v>
                </c:pt>
                <c:pt idx="2">
                  <c:v>3 Mar</c:v>
                </c:pt>
                <c:pt idx="3">
                  <c:v>10 Mar</c:v>
                </c:pt>
                <c:pt idx="4">
                  <c:v>17 Mar</c:v>
                </c:pt>
                <c:pt idx="5">
                  <c:v>24 Mar</c:v>
                </c:pt>
                <c:pt idx="6">
                  <c:v>31 Mar</c:v>
                </c:pt>
                <c:pt idx="7">
                  <c:v>7 Apr</c:v>
                </c:pt>
                <c:pt idx="8">
                  <c:v>14 Apr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5908</c:v>
                </c:pt>
                <c:pt idx="6">
                  <c:v>5825</c:v>
                </c:pt>
                <c:pt idx="7">
                  <c:v>5742</c:v>
                </c:pt>
                <c:pt idx="8">
                  <c:v>5660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7E5-4FC1-9D58-787C798B38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0"/>
          <c:min val="5000"/>
        </c:scaling>
        <c:delete val="0"/>
        <c:axPos val="l"/>
        <c:majorGridlines>
          <c:spPr>
            <a:ln w="6350" cap="flat">
              <a:solidFill>
                <a:srgbClr val="D9E2E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081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7F73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marL="0" indent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236998" y="3267581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Market Analysis and Recommendation System</a:t>
            </a:r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Lokesh </a:t>
            </a:r>
            <a:r>
              <a:rPr lang="en-US" sz="2000" dirty="0" err="1">
                <a:solidFill>
                  <a:srgbClr val="FFFFFF"/>
                </a:solidFill>
              </a:rPr>
              <a:t>Lavhate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24DD8-049C-ED45-3A36-3889E07FC587}"/>
              </a:ext>
            </a:extLst>
          </p:cNvPr>
          <p:cNvSpPr txBox="1"/>
          <p:nvPr/>
        </p:nvSpPr>
        <p:spPr>
          <a:xfrm>
            <a:off x="1890149" y="1750630"/>
            <a:ext cx="819834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0" dirty="0" err="1">
                <a:solidFill>
                  <a:srgbClr val="FFFFFF"/>
                </a:solidFill>
              </a:rPr>
              <a:t>NextHikes</a:t>
            </a:r>
            <a:r>
              <a:rPr lang="en-US" sz="7000" dirty="0">
                <a:solidFill>
                  <a:srgbClr val="FFFFFF"/>
                </a:solidFill>
              </a:rPr>
              <a:t> IT Solutions </a:t>
            </a:r>
            <a:endParaRPr lang="en-IN" sz="7000" dirty="0"/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AF9874C5-5A54-AAEE-A288-DC66614EF931}"/>
              </a:ext>
            </a:extLst>
          </p:cNvPr>
          <p:cNvSpPr txBox="1"/>
          <p:nvPr/>
        </p:nvSpPr>
        <p:spPr>
          <a:xfrm>
            <a:off x="619553" y="604063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A9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15/10/2026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found, in four numbers</a:t>
            </a:r>
            <a:endParaRPr lang="en-US" sz="3400" dirty="0"/>
          </a:p>
        </p:txBody>
      </p:sp>
      <p:sp>
        <p:nvSpPr>
          <p:cNvPr id="3" name="stat postings"/>
          <p:cNvSpPr/>
          <p:nvPr/>
        </p:nvSpPr>
        <p:spPr>
          <a:xfrm>
            <a:off x="548640" y="14630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276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244,828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job postings analysed (8 columns, titles only)</a:t>
            </a:r>
            <a:endParaRPr lang="en-US" sz="1400" dirty="0"/>
          </a:p>
        </p:txBody>
      </p:sp>
      <p:sp>
        <p:nvSpPr>
          <p:cNvPr id="6" name="stat weeks"/>
          <p:cNvSpPr/>
          <p:nvPr/>
        </p:nvSpPr>
        <p:spPr>
          <a:xfrm>
            <a:off x="3337560" y="14630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276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 weeks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data: 12 Feb to 24 Mar 2024, only 5 full weeks</a:t>
            </a:r>
            <a:endParaRPr lang="en-US" sz="1400" dirty="0"/>
          </a:p>
        </p:txBody>
      </p:sp>
      <p:sp>
        <p:nvSpPr>
          <p:cNvPr id="9" name="stat countries"/>
          <p:cNvSpPr/>
          <p:nvPr/>
        </p:nvSpPr>
        <p:spPr>
          <a:xfrm>
            <a:off x="6126480" y="1463040"/>
            <a:ext cx="26060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627632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37744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countries compared on hourly rates (at least 30 postings each)</a:t>
            </a:r>
            <a:endParaRPr lang="en-US" sz="1400" dirty="0"/>
          </a:p>
        </p:txBody>
      </p:sp>
      <p:sp>
        <p:nvSpPr>
          <p:cNvPr id="12" name="stat relevance"/>
          <p:cNvSpPr/>
          <p:nvPr/>
        </p:nvSpPr>
        <p:spPr>
          <a:xfrm>
            <a:off x="8915400" y="1463040"/>
            <a:ext cx="269748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627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57%</a:t>
            </a:r>
            <a:endParaRPr lang="en-US" sz="38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37744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of top-10 recommendations match the query's role (random: 3.5%)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429000"/>
            <a:ext cx="11064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Pay depends strongly on the job type: legal and consulting titles pay far more than support and data-entry titles.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Demand by role is very stable week to week, so simple baselines predict nearly as well as machine learning.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Rates differ by country even for the same role: the Philippines and India are about 27 to 39% below the US.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Remote wording is rare (0.56% of titles) and flat; only posting volume drifts, and not significantly after correction.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Two Streamlit apps (recommender and dashboard) are ready; the short data window is the main limit.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Scope: all 8 tasks delivered</a:t>
            </a:r>
            <a:endParaRPr lang="en-US" sz="3400" dirty="0"/>
          </a:p>
        </p:txBody>
      </p:sp>
      <p:graphicFrame>
        <p:nvGraphicFramePr>
          <p:cNvPr id="4" name="scop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427939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delivers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Where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4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1  Title keywords vs salary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Keyword-pay analysis, Ridge model, tests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2  Emerging job categories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Keyword and cluster growth, FDR-corrected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Notebook, CSV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3  High-demand roles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Role forecast, backtest vs baselines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Notebook, CSV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4  Hourly rate by country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Interactive map, role-adjusted gaps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Notebook, HTML map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5  Recommendation engine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Streamlit app, tests, function docs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recommender_app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6  Market dashboard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Streamlit dashboard, monthly refresh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job_market_dashboard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7  Remote work trends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Signal tests, profile, forecast,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Notebook,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F2A30"/>
                          </a:solidFill>
                        </a:rPr>
                        <a:t>8  Future trends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Scenarios, backtest,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F2A30"/>
                          </a:solidFill>
                        </a:rPr>
                        <a:t>Notebook, report</a:t>
                      </a:r>
                      <a:endParaRPr lang="en-US" sz="1400" dirty="0"/>
                    </a:p>
                  </a:txBody>
                  <a:tcPr anchor="ctr">
                    <a:lnL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dataset: large, but narrow</a:t>
            </a:r>
            <a:endParaRPr lang="en-US" sz="3400" dirty="0"/>
          </a:p>
        </p:txBody>
      </p:sp>
      <p:sp>
        <p:nvSpPr>
          <p:cNvPr id="3" name="have card"/>
          <p:cNvSpPr/>
          <p:nvPr/>
        </p:nvSpPr>
        <p:spPr>
          <a:xfrm>
            <a:off x="54864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missing card"/>
          <p:cNvSpPr/>
          <p:nvPr/>
        </p:nvSpPr>
        <p:spPr>
          <a:xfrm>
            <a:off x="6172200" y="1463040"/>
            <a:ext cx="54406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have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244,828 postings, 8 columns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Title, link, date, hourly low/high, budget, country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57.6% hourly jobs, rest fixed price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About 42% of rows carry an hourly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US clients: 48% of rated hourly postings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645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missing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19456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job descriptions (titles only)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remote / on-site field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Currency is not stated (assumed USD)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about 6 weeks, so no long-term trends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Country is probably the client's, not the freelancer's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preparation</a:t>
            </a:r>
            <a:endParaRPr lang="en-US" sz="3400" dirty="0"/>
          </a:p>
        </p:txBody>
      </p:sp>
      <p:sp>
        <p:nvSpPr>
          <p:cNvPr id="3" name="prep card 1"/>
          <p:cNvSpPr/>
          <p:nvPr/>
        </p:nvSpPr>
        <p:spPr>
          <a:xfrm>
            <a:off x="54864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rep number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Remove empty titles and duplicates</a:t>
            </a:r>
            <a:endParaRPr lang="en-US" sz="1600" dirty="0"/>
          </a:p>
        </p:txBody>
      </p:sp>
      <p:sp>
        <p:nvSpPr>
          <p:cNvPr id="7" name="prep card 2"/>
          <p:cNvSpPr/>
          <p:nvPr/>
        </p:nvSpPr>
        <p:spPr>
          <a:xfrm>
            <a:off x="429768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prep number 2"/>
          <p:cNvSpPr/>
          <p:nvPr/>
        </p:nvSpPr>
        <p:spPr>
          <a:xfrm>
            <a:off x="452628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Keep the dense window from 12 Feb</a:t>
            </a:r>
            <a:endParaRPr lang="en-US" sz="1600" dirty="0"/>
          </a:p>
        </p:txBody>
      </p:sp>
      <p:sp>
        <p:nvSpPr>
          <p:cNvPr id="11" name="prep card 3"/>
          <p:cNvSpPr/>
          <p:nvPr/>
        </p:nvSpPr>
        <p:spPr>
          <a:xfrm>
            <a:off x="8046720" y="164592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prep number 3"/>
          <p:cNvSpPr/>
          <p:nvPr/>
        </p:nvSpPr>
        <p:spPr>
          <a:xfrm>
            <a:off x="8275320" y="1874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7532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251460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Split hourly vs fixed price</a:t>
            </a:r>
            <a:endParaRPr lang="en-US" sz="1600" dirty="0"/>
          </a:p>
        </p:txBody>
      </p:sp>
      <p:sp>
        <p:nvSpPr>
          <p:cNvPr id="15" name="prep card 4"/>
          <p:cNvSpPr/>
          <p:nvPr/>
        </p:nvSpPr>
        <p:spPr>
          <a:xfrm>
            <a:off x="54864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rep number 4"/>
          <p:cNvSpPr/>
          <p:nvPr/>
        </p:nvSpPr>
        <p:spPr>
          <a:xfrm>
            <a:off x="77724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Drop top 1% rates and budgets</a:t>
            </a:r>
            <a:endParaRPr lang="en-US" sz="1600" dirty="0"/>
          </a:p>
        </p:txBody>
      </p:sp>
      <p:sp>
        <p:nvSpPr>
          <p:cNvPr id="19" name="prep card 5"/>
          <p:cNvSpPr/>
          <p:nvPr/>
        </p:nvSpPr>
        <p:spPr>
          <a:xfrm>
            <a:off x="429768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rep number 5"/>
          <p:cNvSpPr/>
          <p:nvPr/>
        </p:nvSpPr>
        <p:spPr>
          <a:xfrm>
            <a:off x="452628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 titles (lowercase, abbreviations)</a:t>
            </a:r>
            <a:endParaRPr lang="en-US" sz="1600" dirty="0"/>
          </a:p>
        </p:txBody>
      </p:sp>
      <p:sp>
        <p:nvSpPr>
          <p:cNvPr id="23" name="prep card 6"/>
          <p:cNvSpPr/>
          <p:nvPr/>
        </p:nvSpPr>
        <p:spPr>
          <a:xfrm>
            <a:off x="8046720" y="3749040"/>
            <a:ext cx="352044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prep number 6"/>
          <p:cNvSpPr/>
          <p:nvPr/>
        </p:nvSpPr>
        <p:spPr>
          <a:xfrm>
            <a:off x="8275320" y="3977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753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46177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Remove Spanish / non-Latin titles (1.2%)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Partial days (a collection gap on 15 Feb, the last day on 24 Mar) are excluded from every time-based result.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Postings per day: steady, with a weekend dip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49808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eda notes"/>
          <p:cNvSpPr/>
          <p:nvPr/>
        </p:nvSpPr>
        <p:spPr>
          <a:xfrm>
            <a:off x="8321040" y="1463040"/>
            <a:ext cx="3291840" cy="448056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691640"/>
            <a:ext cx="2834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Weekdays: about 7,000 postings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Weekends: about 4,500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15 Feb: collection gap (1,811)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24 Mar: partial day (2,185)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5 full Sunday-Saturday weeks remain for trend work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the title predicts the pay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9494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1 notes"/>
          <p:cNvSpPr/>
          <p:nvPr/>
        </p:nvSpPr>
        <p:spPr>
          <a:xfrm>
            <a:off x="7772400" y="1463040"/>
            <a:ext cx="3840480" cy="448056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210312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99,989 hourly postings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TF-IDF keywords, Ridge regression on log rate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Holdout R² = 0.25, MAE $12.34/h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Mann-Whitney test per keyword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01000" y="448056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Titles explain about a quarter of the variation: a real but partial signal, not a cause.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few categories are truly emerging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0350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2 notes"/>
          <p:cNvSpPr/>
          <p:nvPr/>
        </p:nvSpPr>
        <p:spPr>
          <a:xfrm>
            <a:off x="6858000" y="1463040"/>
            <a:ext cx="475488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086600" y="1691640"/>
            <a:ext cx="4297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7 of 546 keywords pass the test (FDR &lt; 0.05, at least +15%)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Rising clusters: video editing, logo design, Google/Facebook ads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Falling: translation, data entry, content writing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'paste' and 'copy' fell over 50%: likely one bulk-posted batch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086600" y="484632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Six weeks show a rising share, not proof of a brand-new job type.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big roles stay big; ML adds little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71323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3 notes"/>
          <p:cNvSpPr/>
          <p:nvPr/>
        </p:nvSpPr>
        <p:spPr>
          <a:xfrm>
            <a:off x="7955280" y="1463040"/>
            <a:ext cx="3657600" cy="4480560"/>
          </a:xfrm>
          <a:prstGeom prst="roundRect">
            <a:avLst>
              <a:gd name="adj" fmla="val 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83880" y="1691640"/>
            <a:ext cx="3200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35 roles from keyword rules (82% of postings matched)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 25% flagged high-demand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Ensemble error 4.6% vs 4.7% for 'same as last week': ML adds almost nothing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Growth did not persist (correlation -0.21, -0.52): we can rank roles, not predict growth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50292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WordPress is #1 partly because the rule also catches any generic 'website' title.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same role, lower rates outside the US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2179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4 notes"/>
          <p:cNvSpPr/>
          <p:nvPr/>
        </p:nvSpPr>
        <p:spPr>
          <a:xfrm>
            <a:off x="7040880" y="1463040"/>
            <a:ext cx="457200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269480" y="1691640"/>
            <a:ext cx="4114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93 countries; means run from $14.72 to $35.19 per hour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US: mean $29.83, median $25.00 (47,555 postings)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Differences are significant (Kruskal-Wallis p &lt; 1e-300)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Thailand tops the mean ($35.19) but its median is $22.50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26948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Currency is unstated (assumed USD). Role + country explain only 17% of rate variation.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5: how the recommender works</a:t>
            </a:r>
            <a:endParaRPr lang="en-US" sz="3400" dirty="0"/>
          </a:p>
        </p:txBody>
      </p:sp>
      <p:sp>
        <p:nvSpPr>
          <p:cNvPr id="3" name="flow card 1"/>
          <p:cNvSpPr/>
          <p:nvPr/>
        </p:nvSpPr>
        <p:spPr>
          <a:xfrm>
            <a:off x="548640" y="15544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low number 1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Index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TF-IDF on 197,630 unique titles (words and word pairs)</a:t>
            </a:r>
            <a:endParaRPr lang="en-US" sz="1400" dirty="0"/>
          </a:p>
        </p:txBody>
      </p:sp>
      <p:sp>
        <p:nvSpPr>
          <p:cNvPr id="8" name="flow card 2"/>
          <p:cNvSpPr/>
          <p:nvPr/>
        </p:nvSpPr>
        <p:spPr>
          <a:xfrm>
            <a:off x="3383280" y="15544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low number 2"/>
          <p:cNvSpPr/>
          <p:nvPr/>
        </p:nvSpPr>
        <p:spPr>
          <a:xfrm>
            <a:off x="361188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Cosine similarity between your skills text and every title</a:t>
            </a:r>
            <a:endParaRPr lang="en-US" sz="1400" dirty="0"/>
          </a:p>
        </p:txBody>
      </p:sp>
      <p:sp>
        <p:nvSpPr>
          <p:cNvPr id="13" name="flow card 3"/>
          <p:cNvSpPr/>
          <p:nvPr/>
        </p:nvSpPr>
        <p:spPr>
          <a:xfrm>
            <a:off x="6217920" y="15544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low number 3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Job type, pay, country, recency, excluded words</a:t>
            </a:r>
            <a:endParaRPr lang="en-US" sz="1400" dirty="0"/>
          </a:p>
        </p:txBody>
      </p:sp>
      <p:sp>
        <p:nvSpPr>
          <p:cNvPr id="18" name="flow card 4"/>
          <p:cNvSpPr/>
          <p:nvPr/>
        </p:nvSpPr>
        <p:spPr>
          <a:xfrm>
            <a:off x="9052560" y="1554480"/>
            <a:ext cx="2651760" cy="237744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low number 4"/>
          <p:cNvSpPr/>
          <p:nvPr/>
        </p:nvSpPr>
        <p:spPr>
          <a:xfrm>
            <a:off x="9281160" y="17830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83464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result per title, newest posting, best match first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Streamlit app: query box, sidebar filters, result cards and table, CSV download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search takes about 20 to 40 ms after a 10-second index build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Results show role, pay, country, link, match score and matched words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5: far better than random, still basic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5 notes"/>
          <p:cNvSpPr/>
          <p:nvPr/>
        </p:nvSpPr>
        <p:spPr>
          <a:xfrm>
            <a:off x="7589520" y="1463040"/>
            <a:ext cx="4023360" cy="4480560"/>
          </a:xfrm>
          <a:prstGeom prst="roundRect">
            <a:avLst>
              <a:gd name="adj" fmla="val 1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818120" y="1691640"/>
            <a:ext cx="3566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clicks or applications exist, so this uses 'same role' as a proxy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proxy is optimistic (rules overlap with search words) and also misses some good matches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Titles only: 'dev' will not find 'developer'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 upgrade: semantic embeddings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6: a dashboard that updates with each new CSV</a:t>
            </a:r>
            <a:endParaRPr lang="en-US" sz="3400" dirty="0"/>
          </a:p>
        </p:txBody>
      </p:sp>
      <p:sp>
        <p:nvSpPr>
          <p:cNvPr id="3" name="kpi card 1"/>
          <p:cNvSpPr/>
          <p:nvPr/>
        </p:nvSpPr>
        <p:spPr>
          <a:xfrm>
            <a:off x="54864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Postings per day</a:t>
            </a:r>
            <a:endParaRPr lang="en-US" sz="1400" dirty="0"/>
          </a:p>
        </p:txBody>
      </p:sp>
      <p:sp>
        <p:nvSpPr>
          <p:cNvPr id="5" name="kpi card 2"/>
          <p:cNvSpPr/>
          <p:nvPr/>
        </p:nvSpPr>
        <p:spPr>
          <a:xfrm>
            <a:off x="242316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6032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Hourly share</a:t>
            </a:r>
            <a:endParaRPr lang="en-US" sz="1400" dirty="0"/>
          </a:p>
        </p:txBody>
      </p:sp>
      <p:sp>
        <p:nvSpPr>
          <p:cNvPr id="7" name="kpi card 3"/>
          <p:cNvSpPr/>
          <p:nvPr/>
        </p:nvSpPr>
        <p:spPr>
          <a:xfrm>
            <a:off x="429768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3484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Mean hourly rate</a:t>
            </a:r>
            <a:endParaRPr lang="en-US" sz="1400" dirty="0"/>
          </a:p>
        </p:txBody>
      </p:sp>
      <p:sp>
        <p:nvSpPr>
          <p:cNvPr id="9" name="kpi card 4"/>
          <p:cNvSpPr/>
          <p:nvPr/>
        </p:nvSpPr>
        <p:spPr>
          <a:xfrm>
            <a:off x="617220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Mean fixed budget</a:t>
            </a:r>
            <a:endParaRPr lang="en-US" sz="1400" dirty="0"/>
          </a:p>
        </p:txBody>
      </p:sp>
      <p:sp>
        <p:nvSpPr>
          <p:cNvPr id="11" name="kpi card 5"/>
          <p:cNvSpPr/>
          <p:nvPr/>
        </p:nvSpPr>
        <p:spPr>
          <a:xfrm>
            <a:off x="804672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Remote mentions / 10k</a:t>
            </a:r>
            <a:endParaRPr lang="en-US" sz="1400" dirty="0"/>
          </a:p>
        </p:txBody>
      </p:sp>
      <p:sp>
        <p:nvSpPr>
          <p:cNvPr id="13" name="kpi card 6"/>
          <p:cNvSpPr/>
          <p:nvPr/>
        </p:nvSpPr>
        <p:spPr>
          <a:xfrm>
            <a:off x="9921240" y="1417320"/>
            <a:ext cx="173736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0" y="155448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AI / ML share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4203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KPI row: latest full period vs the previous one</a:t>
            </a:r>
            <a:endParaRPr lang="en-US" sz="1200" dirty="0"/>
          </a:p>
        </p:txBody>
      </p:sp>
      <p:sp>
        <p:nvSpPr>
          <p:cNvPr id="16" name="tabs card"/>
          <p:cNvSpPr/>
          <p:nvPr/>
        </p:nvSpPr>
        <p:spPr>
          <a:xfrm>
            <a:off x="548640" y="2971800"/>
            <a:ext cx="54406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fresh card"/>
          <p:cNvSpPr/>
          <p:nvPr/>
        </p:nvSpPr>
        <p:spPr>
          <a:xfrm>
            <a:off x="6172200" y="2971800"/>
            <a:ext cx="544068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tabs and three controls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Overview, Roles, Geography, Work signals, Data notes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Weekly or monthly 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Filter by role and client country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Partial periods drawn in grey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refresh in three steps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36118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Copy the new CSV export into the data folder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Click Reload data (new files are also detected)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Files are combined and duplicates removed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with: streamlit run dashboard.py; 6 automated tests pass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6: what the dashboard shows today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3093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6 findings"/>
          <p:cNvSpPr/>
          <p:nvPr/>
        </p:nvSpPr>
        <p:spPr>
          <a:xfrm>
            <a:off x="7132320" y="1463040"/>
            <a:ext cx="4480560" cy="4480560"/>
          </a:xfrm>
          <a:prstGeom prst="roundRect">
            <a:avLst>
              <a:gd name="adj" fmla="val 16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60920" y="1691640"/>
            <a:ext cx="4023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 fell 5.6% in 4 weeks (6,361 to 6,002 a day); not significant after correcting for 8 indicators (p = 0.06)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Hourly share (57 to 59%), mean hourly rate ($27) and US share (40 to 42%) are stable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months are partial (Feb 16 of 29 days, Mar 23 of 31), so they are flagged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4983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1"/>
                </a:solidFill>
              </a:rPr>
              <a:t>The volume dip may reflect data collection, not the market.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7: remote wording is rare and flat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583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7 notes"/>
          <p:cNvSpPr/>
          <p:nvPr/>
        </p:nvSpPr>
        <p:spPr>
          <a:xfrm>
            <a:off x="7406640" y="1463040"/>
            <a:ext cx="4206240" cy="448056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635240" y="1691640"/>
            <a:ext cx="3749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0.56% of titles say 'remote'; weekly range 51 to 60 per 10,000, no detectable shift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None of 9 signals changed after correction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63.5% of remote-titled postings come from US clients (40.8% of others)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Pay gap ($29.72 vs $27.22/h) is not significant (p = 0.31)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51206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No remote field exists: this measures mentions only. Forecast: flat at about 56 per 10,000.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8: a stable market is the base case</a:t>
            </a:r>
            <a:endParaRPr lang="en-US" sz="3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694944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ask8 notes"/>
          <p:cNvSpPr/>
          <p:nvPr/>
        </p:nvSpPr>
        <p:spPr>
          <a:xfrm>
            <a:off x="7772400" y="1463040"/>
            <a:ext cx="3840480" cy="448056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001000" y="1691640"/>
            <a:ext cx="33832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Best simple method in a walk-forward test: mean of last 3 weeks (2.8% error)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None of the 8 indicators shows a significant trend after correction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Volume trend of -1.3% a week is not significant after correction (p = 0.065)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Scenario B reaches about 5,660 a day by 14 Apr (-5.7%): a downside case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001000" y="5120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chemeClr val="tx1"/>
                </a:solidFill>
              </a:rPr>
              <a:t>Scenarios show what the data allows, not what the labour market will do.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we faced and how we handled them</a:t>
            </a:r>
            <a:endParaRPr lang="en-US" sz="3400" dirty="0"/>
          </a:p>
        </p:txBody>
      </p:sp>
      <p:sp>
        <p:nvSpPr>
          <p:cNvPr id="3" name="challenge card 1"/>
          <p:cNvSpPr/>
          <p:nvPr/>
        </p:nvSpPr>
        <p:spPr>
          <a:xfrm>
            <a:off x="54864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Only 6 weeks of data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Used the 5 full Sunday-Saturday weeks, shares instead of counts, flagged partial periods, simple baselines.</a:t>
            </a:r>
            <a:endParaRPr lang="en-US" sz="1500" dirty="0"/>
          </a:p>
        </p:txBody>
      </p:sp>
      <p:sp>
        <p:nvSpPr>
          <p:cNvPr id="6" name="challenge card 2"/>
          <p:cNvSpPr/>
          <p:nvPr/>
        </p:nvSpPr>
        <p:spPr>
          <a:xfrm>
            <a:off x="6172200" y="137160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50876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and missing days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19659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Found a 15 Feb gap and partial first/last days; excluded days with under half the usual postings.</a:t>
            </a:r>
            <a:endParaRPr lang="en-US" sz="1500" dirty="0"/>
          </a:p>
        </p:txBody>
      </p:sp>
      <p:sp>
        <p:nvSpPr>
          <p:cNvPr id="9" name="challenge card 3"/>
          <p:cNvSpPr/>
          <p:nvPr/>
        </p:nvSpPr>
        <p:spPr>
          <a:xfrm>
            <a:off x="548640" y="301752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Titles only, no remote field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6118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Measured remote wording in titles as a proxy; stated the currency and country assumptions.</a:t>
            </a:r>
            <a:endParaRPr lang="en-US" sz="1500" dirty="0"/>
          </a:p>
        </p:txBody>
      </p:sp>
      <p:sp>
        <p:nvSpPr>
          <p:cNvPr id="12" name="challenge card 4"/>
          <p:cNvSpPr/>
          <p:nvPr/>
        </p:nvSpPr>
        <p:spPr>
          <a:xfrm>
            <a:off x="6172200" y="301752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15468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titles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61188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Removed duplicates and Spanish or non-Latin titles; spotted bulk 'copy paste' postings; corrected for many tests (FDR).</a:t>
            </a:r>
            <a:endParaRPr lang="en-US" sz="1500" dirty="0"/>
          </a:p>
        </p:txBody>
      </p:sp>
      <p:sp>
        <p:nvSpPr>
          <p:cNvPr id="15" name="challenge card 5"/>
          <p:cNvSpPr/>
          <p:nvPr/>
        </p:nvSpPr>
        <p:spPr>
          <a:xfrm>
            <a:off x="548640" y="466344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and mixed units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257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Budgets reached $1,000,000: dropped the top 1%; kept hourly and fixed-price jobs separate.</a:t>
            </a:r>
            <a:endParaRPr lang="en-US" sz="1500" dirty="0"/>
          </a:p>
        </p:txBody>
      </p:sp>
      <p:sp>
        <p:nvSpPr>
          <p:cNvPr id="18" name="challenge card 6"/>
          <p:cNvSpPr/>
          <p:nvPr/>
        </p:nvSpPr>
        <p:spPr>
          <a:xfrm>
            <a:off x="6172200" y="466344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800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 no better than baseline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52578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Reported it honestly; judged the recommender with a proxy because no user feedback exists.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it</a:t>
            </a:r>
            <a:endParaRPr lang="en-US" sz="3400" dirty="0"/>
          </a:p>
        </p:txBody>
      </p:sp>
      <p:sp>
        <p:nvSpPr>
          <p:cNvPr id="3" name="run label 1"/>
          <p:cNvSpPr/>
          <p:nvPr/>
        </p:nvSpPr>
        <p:spPr>
          <a:xfrm>
            <a:off x="548640" y="13716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un command 1"/>
          <p:cNvSpPr/>
          <p:nvPr/>
        </p:nvSpPr>
        <p:spPr>
          <a:xfrm>
            <a:off x="3063240" y="1371600"/>
            <a:ext cx="85496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4630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 Install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4630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pandas numpy scikit-learn scipy matplotlib seaborn plotly jupyter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-U streamlit</a:t>
            </a:r>
            <a:endParaRPr lang="en-US" sz="1300" dirty="0"/>
          </a:p>
        </p:txBody>
      </p:sp>
      <p:sp>
        <p:nvSpPr>
          <p:cNvPr id="7" name="run label 2"/>
          <p:cNvSpPr/>
          <p:nvPr/>
        </p:nvSpPr>
        <p:spPr>
          <a:xfrm>
            <a:off x="548640" y="2487168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run command 2"/>
          <p:cNvSpPr/>
          <p:nvPr/>
        </p:nvSpPr>
        <p:spPr>
          <a:xfrm>
            <a:off x="3063240" y="2487168"/>
            <a:ext cx="85496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78608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 Notebook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2578608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jupyter notebook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job_market_analysis.ipynb, then Kernel &gt; Restart &amp; Run All (5 to 10 minutes)</a:t>
            </a:r>
            <a:endParaRPr lang="en-US" sz="1300" dirty="0"/>
          </a:p>
        </p:txBody>
      </p:sp>
      <p:sp>
        <p:nvSpPr>
          <p:cNvPr id="11" name="run label 3"/>
          <p:cNvSpPr/>
          <p:nvPr/>
        </p:nvSpPr>
        <p:spPr>
          <a:xfrm>
            <a:off x="548640" y="3602736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run command 3"/>
          <p:cNvSpPr/>
          <p:nvPr/>
        </p:nvSpPr>
        <p:spPr>
          <a:xfrm>
            <a:off x="3063240" y="3602736"/>
            <a:ext cx="85496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694176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 Recommender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694176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recommender_app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streamlit_app.py    # http://localhost:8501</a:t>
            </a:r>
            <a:endParaRPr lang="en-US" sz="1300" dirty="0"/>
          </a:p>
        </p:txBody>
      </p:sp>
      <p:sp>
        <p:nvSpPr>
          <p:cNvPr id="15" name="run label 4"/>
          <p:cNvSpPr/>
          <p:nvPr/>
        </p:nvSpPr>
        <p:spPr>
          <a:xfrm>
            <a:off x="548640" y="4718304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run command 4"/>
          <p:cNvSpPr/>
          <p:nvPr/>
        </p:nvSpPr>
        <p:spPr>
          <a:xfrm>
            <a:off x="3063240" y="4718304"/>
            <a:ext cx="8549640" cy="1005840"/>
          </a:xfrm>
          <a:prstGeom prst="roundRect">
            <a:avLst>
              <a:gd name="adj" fmla="val 7273"/>
            </a:avLst>
          </a:prstGeom>
          <a:solidFill>
            <a:srgbClr val="F4F7F6"/>
          </a:solidFill>
          <a:ln w="12700">
            <a:solidFill>
              <a:srgbClr val="F4F7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09744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 Dashboard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809744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job_market_dashboard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dashboard.py --server.port 8502    # http://localhost:8502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First copy all_upwork_jobs_2024-02-07-2024-03-24.csv into the data folder. Keep the project folders together.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3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and tools used</a:t>
            </a:r>
            <a:endParaRPr lang="en-US" sz="3400" dirty="0"/>
          </a:p>
        </p:txBody>
      </p:sp>
      <p:sp>
        <p:nvSpPr>
          <p:cNvPr id="3" name="resource card 1"/>
          <p:cNvSpPr/>
          <p:nvPr/>
        </p:nvSpPr>
        <p:spPr>
          <a:xfrm>
            <a:off x="548640" y="141732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libraries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pandas, NumPy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SciPy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scikit-learn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Matplotlib, Seaborn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Plotly (interactive map)</a:t>
            </a:r>
            <a:endParaRPr lang="en-US" sz="1500" dirty="0"/>
          </a:p>
        </p:txBody>
      </p:sp>
      <p:sp>
        <p:nvSpPr>
          <p:cNvPr id="6" name="resource card 2"/>
          <p:cNvSpPr/>
          <p:nvPr/>
        </p:nvSpPr>
        <p:spPr>
          <a:xfrm>
            <a:off x="4297680" y="141732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1488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TF-IDF + cosine similarity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Ridge regression, gradient boosting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KMeans clustering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Chi-square, Mann-Whitney, Kruskal-Wallis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Benjamini-Hochberg FDR correction</a:t>
            </a:r>
            <a:endParaRPr lang="en-US" sz="1500" dirty="0"/>
          </a:p>
        </p:txBody>
      </p:sp>
      <p:sp>
        <p:nvSpPr>
          <p:cNvPr id="9" name="resource card 3"/>
          <p:cNvSpPr/>
          <p:nvPr/>
        </p:nvSpPr>
        <p:spPr>
          <a:xfrm>
            <a:off x="8046720" y="1417320"/>
            <a:ext cx="35204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600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2148840"/>
            <a:ext cx="31089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Jupyter Notebook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Streamlit (two apps)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Python / Anaconda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PowerPoint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4632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Data: Upwork job postings CSV linked in the project brief (12 Feb to 24 Mar 2024)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An AI assistant helped with code</a:t>
            </a:r>
            <a:r>
              <a:rPr lang="en-US" sz="1600" dirty="0"/>
              <a:t> and other run time error.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376957" y="309776"/>
            <a:ext cx="10698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26247" y="1128071"/>
            <a:ext cx="10698480" cy="300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All 8 tasks are delivered: one analysis notebook, two Streamlit apps and two reports.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Titles carry a real pay signal (R² = 0.25), and rates differ by country even for the same role (Philippines and India 27 to 39% below the US).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Demand by role is stable: the biggest roles stay biggest, and machine learning adds almost nothing over 'same as last week'.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Remote wording is rare and flat, and the market looked stable over 5 weeks; the volume dip is not significant after correction.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</a:rPr>
              <a:t>Main limit: 6 weeks of titles only. Next: longer history, job descriptions, user feedback and semantic search.</a:t>
            </a:r>
            <a:endParaRPr lang="en-US" sz="15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A1A20954-44A2-968E-F1E6-1BDD6064EE67}"/>
              </a:ext>
            </a:extLst>
          </p:cNvPr>
          <p:cNvSpPr txBox="1"/>
          <p:nvPr/>
        </p:nvSpPr>
        <p:spPr>
          <a:xfrm>
            <a:off x="4590661" y="4381656"/>
            <a:ext cx="703341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2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F6139A-228F-87B3-5846-61B96B0935E9}"/>
              </a:ext>
            </a:extLst>
          </p:cNvPr>
          <p:cNvSpPr txBox="1"/>
          <p:nvPr/>
        </p:nvSpPr>
        <p:spPr>
          <a:xfrm>
            <a:off x="8405949" y="6083151"/>
            <a:ext cx="28497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Lokesh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Lavhate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E1790A-5A20-8C21-D242-70E6B32B7BA6}"/>
              </a:ext>
            </a:extLst>
          </p:cNvPr>
          <p:cNvSpPr txBox="1"/>
          <p:nvPr/>
        </p:nvSpPr>
        <p:spPr>
          <a:xfrm>
            <a:off x="8405949" y="6438122"/>
            <a:ext cx="2353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9C4D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15/10/2026</a:t>
            </a:r>
            <a:endParaRPr lang="en-IN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obMarket">
  <a:themeElements>
    <a:clrScheme name="JobMarket">
      <a:dk1>
        <a:srgbClr val="1F2A30"/>
      </a:dk1>
      <a:lt1>
        <a:srgbClr val="FFFFFF"/>
      </a:lt1>
      <a:dk2>
        <a:srgbClr val="12343B"/>
      </a:dk2>
      <a:lt2>
        <a:srgbClr val="E8F1EF"/>
      </a:lt2>
      <a:accent1>
        <a:srgbClr val="1A7F73"/>
      </a:accent1>
      <a:accent2>
        <a:srgbClr val="E0A030"/>
      </a:accent2>
      <a:accent3>
        <a:srgbClr val="C4553B"/>
      </a:accent3>
      <a:accent4>
        <a:srgbClr val="5B6B70"/>
      </a:accent4>
      <a:accent5>
        <a:srgbClr val="7FB5AB"/>
      </a:accent5>
      <a:accent6>
        <a:srgbClr val="2E5A63"/>
      </a:accent6>
      <a:hlink>
        <a:srgbClr val="1A7F73"/>
      </a:hlink>
      <a:folHlink>
        <a:srgbClr val="5B6B70"/>
      </a:folHlink>
    </a:clrScheme>
    <a:fontScheme name="JobMark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1934</Words>
  <Application>Microsoft Office PowerPoint</Application>
  <PresentationFormat>Widescreen</PresentationFormat>
  <Paragraphs>263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Consolas</vt:lpstr>
      <vt:lpstr>JobMarket</vt:lpstr>
      <vt:lpstr>Job Market Analysis and Recommendation System</vt:lpstr>
      <vt:lpstr>What we found, in four numbers</vt:lpstr>
      <vt:lpstr>Scope: all 8 tasks delivered</vt:lpstr>
      <vt:lpstr>The dataset: large, but narrow</vt:lpstr>
      <vt:lpstr>Data preparation</vt:lpstr>
      <vt:lpstr>Postings per day: steady, with a weekend dip</vt:lpstr>
      <vt:lpstr>Task 1: the title predicts the pay</vt:lpstr>
      <vt:lpstr>Task 2: few categories are truly emerging</vt:lpstr>
      <vt:lpstr>Task 3: big roles stay big; ML adds little</vt:lpstr>
      <vt:lpstr>Task 4: same role, lower rates outside the US</vt:lpstr>
      <vt:lpstr>Task 5: how the recommender works</vt:lpstr>
      <vt:lpstr>Task 5: far better than random, still basic</vt:lpstr>
      <vt:lpstr>Task 6: a dashboard that updates with each new CSV</vt:lpstr>
      <vt:lpstr>Task 6: what the dashboard shows today</vt:lpstr>
      <vt:lpstr>Task 7: remote wording is rare and flat</vt:lpstr>
      <vt:lpstr>Task 8: a stable market is the base case</vt:lpstr>
      <vt:lpstr>Challenges we faced and how we handled them</vt:lpstr>
      <vt:lpstr>How to run it</vt:lpstr>
      <vt:lpstr>Resources and tools used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 Market Analysis and Recommendation System</dc:title>
  <dc:subject>PptxGenJS Presentation</dc:subject>
  <dc:creator>PptxGenJS</dc:creator>
  <cp:lastModifiedBy>H P</cp:lastModifiedBy>
  <cp:revision>2</cp:revision>
  <dcterms:created xsi:type="dcterms:W3CDTF">2026-10-17T15:42:30Z</dcterms:created>
  <dcterms:modified xsi:type="dcterms:W3CDTF">2026-10-17T16:57:07Z</dcterms:modified>
</cp:coreProperties>
</file>